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1264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FDDEC"/>
                </a:solidFill>
                <a:latin typeface="Microsoft YaHei"/>
              </a:rPr>
              <a:t>广西电力市场 · 中长期交易规则与策略汇报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B3CE"/>
                </a:solidFill>
                <a:latin typeface="Microsoft YaHei"/>
              </a:rPr>
              <a:t>V1.0.1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目  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864" cy="457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4475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01  关键名词与基本概念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93392"/>
            <a:ext cx="54864" cy="4572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7510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02  交易目标：补仓与套利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23744"/>
            <a:ext cx="54864" cy="457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03  交易品种总览与核心公式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54864" cy="4572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04  多日用电合同电量转让交易（上午）— 规则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84448"/>
            <a:ext cx="54864" cy="457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05  多日用电合同电量转让交易 — 交易策略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4800"/>
            <a:ext cx="54864" cy="4572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965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06  多日直接交易（下午）— 规则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45152"/>
            <a:ext cx="54864" cy="457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2686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07  多日直接交易 — 交易策略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75504"/>
            <a:ext cx="54864" cy="4572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572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08  月度策略与全局套利构想（待讨论）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05856"/>
            <a:ext cx="54864" cy="457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B2B4D"/>
                </a:solidFill>
                <a:latin typeface="Microsoft YaHei"/>
              </a:rPr>
              <a:t>09  补充内容与待完善方向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关键名词解释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01 基本概念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9144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73152" cy="9144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2B4D"/>
                </a:solidFill>
                <a:latin typeface="Microsoft YaHei"/>
              </a:rPr>
              <a:t>交易日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4904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95F66"/>
                </a:solidFill>
                <a:latin typeface="Microsoft YaHei"/>
              </a:rPr>
              <a:t>申报电量、电价的日期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96312"/>
            <a:ext cx="11064240" cy="9144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96312"/>
            <a:ext cx="73152" cy="9144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69464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2B4D"/>
                </a:solidFill>
                <a:latin typeface="Microsoft YaHei"/>
              </a:rPr>
              <a:t>运行日（D日 / 交割日）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569464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95F66"/>
                </a:solidFill>
                <a:latin typeface="Microsoft YaHei"/>
              </a:rPr>
              <a:t>实际运行的日期；如 3.1 日申报 3.4 日的中长期交易，3.1 为交易日，3.4 为运行日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75304"/>
            <a:ext cx="11064240" cy="9144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575304"/>
            <a:ext cx="73152" cy="9144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4845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2B4D"/>
                </a:solidFill>
                <a:latin typeface="Microsoft YaHei"/>
              </a:rPr>
              <a:t>D-1 / D+1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48456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95F66"/>
                </a:solidFill>
                <a:latin typeface="Microsoft YaHei"/>
              </a:rPr>
              <a:t>对应交割日的前一天 / 后一天，以此类推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54296"/>
            <a:ext cx="11064240" cy="9144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654296"/>
            <a:ext cx="73152" cy="9144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27448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2B4D"/>
                </a:solidFill>
                <a:latin typeface="Microsoft YaHei"/>
              </a:rPr>
              <a:t>能量块交易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27448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95F66"/>
                </a:solidFill>
                <a:latin typeface="Microsoft YaHei"/>
              </a:rPr>
              <a:t>本文交易均为 1 小时能量块交易；如“3.1日中长期交易”指当日 0:00~23:00 共 24 个时刻点的 24 次独立交易，各自独立预测、独立报量报价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交易目标：补仓与套利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02 Trading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440680" cy="64008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补仓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54406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2B4D"/>
                </a:solidFill>
                <a:latin typeface="Microsoft YaHei"/>
              </a:rPr>
              <a:t>• 广西本年度中长期持仓偏低，目标补全 50%（未来可能调整）的中长期持仓（以月为单位）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2B4D"/>
                </a:solidFill>
                <a:latin typeface="Microsoft YaHei"/>
              </a:rPr>
              <a:t>• 必须每日购买一定中长期电量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2B4D"/>
                </a:solidFill>
                <a:latin typeface="Microsoft YaHei"/>
              </a:rPr>
              <a:t>• 该交易通常在早晨的多日合同转让市场中完成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440680" cy="64008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417320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套利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057400"/>
            <a:ext cx="54406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8600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2B4D"/>
                </a:solidFill>
                <a:latin typeface="Microsoft YaHei"/>
              </a:rPr>
              <a:t>• 实时电价在特定时段存在波动（可高可低）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2B4D"/>
                </a:solidFill>
                <a:latin typeface="Microsoft YaHei"/>
              </a:rPr>
              <a:t>• 实时电价 - 中长期电价 的差值在不同时段可正可负，形成买卖需求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2B4D"/>
                </a:solidFill>
                <a:latin typeface="Microsoft YaHei"/>
              </a:rPr>
              <a:t>• 不同售电公司对实时价格判断不同，部分公司博弈高/低价，形成交易与套利空间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交易品种总览与核心公式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03 Overview &amp; Key Formulas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2B4D"/>
                </a:solidFill>
                <a:latin typeface="Microsoft YaHei"/>
              </a:rPr>
              <a:t>核心持仓公式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月度中长期持仓量 = 年度长协(分解到月) + 月度竞价 + 月内多日直接交易 + 合同电量转让 + 绿色电力交易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总电量(批发侧) = 月度中长期持仓量 + 日前偏差电量 + 实时偏差电量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总电量(代理用户侧) = 代理所有零售用户月度实际用网电量之和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正常情况下：批发侧口径 = 代理用户侧口径（特殊计量/非市场化情形除外，暂不考虑）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77639"/>
            <a:ext cx="11064240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2B4D"/>
                </a:solidFill>
                <a:latin typeface="Microsoft YaHei"/>
              </a:rPr>
              <a:t>两大交易品种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572000"/>
            <a:ext cx="5440680" cy="14630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572000"/>
            <a:ext cx="5440680" cy="73152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2B4D"/>
                </a:solidFill>
                <a:latin typeface="Microsoft YaHei"/>
              </a:rPr>
              <a:t>多日用电合同电量转让交易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57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95F66"/>
                </a:solidFill>
                <a:latin typeface="Microsoft YaHei"/>
              </a:rPr>
              <a:t>申报时段：上午 09:00–11:30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572000"/>
            <a:ext cx="5440680" cy="14630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4572000"/>
            <a:ext cx="54406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754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2B4D"/>
                </a:solidFill>
                <a:latin typeface="Microsoft YaHei"/>
              </a:rPr>
              <a:t>多日直接交易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257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95F66"/>
                </a:solidFill>
                <a:latin typeface="Microsoft YaHei"/>
              </a:rPr>
              <a:t>申报时段：下午 16:00–17:30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多日用电合同电量转让交易（上午） — 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04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政策依据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《广西电力中长期交易规则》《2026年广西电力市场化交易工作有关事项的通知》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标的物为当月内未履约的年度直接交易合同电量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交易目标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- 2–3天短周期，匹配短期负荷波动、降低偏差风险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滚动衔接，确保全月有可交易标的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交易时序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- 09:00–09:20 集中竞价（自由报价，可改可撤）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- 09:20–09:30 静默固化、集中统一边际出清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- 09:30 公布出清结果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- 09:30–11:30 滚动撮合阶段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0" y="1325880"/>
            <a:ext cx="5029200" cy="5029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2B4D"/>
                </a:solidFill>
                <a:latin typeface="Microsoft YaHei"/>
              </a:rPr>
              <a:t>特殊规则约束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9202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触发条件：月度签约持仓量(考核部分) &lt; 实际用电量 × 50%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考核电量 = 实际用电量×50% − 持仓量(考核部分)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考核价格 = 336.56元/MWh × 1.05 − 当月发电侧实时市场加权均价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95F66"/>
                </a:solidFill>
                <a:latin typeface="Microsoft YaHei"/>
              </a:rPr>
              <a:t>- 价格为正：按该价×考核电量缴纳考核费用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95F66"/>
                </a:solidFill>
                <a:latin typeface="Microsoft YaHei"/>
              </a:rPr>
              <a:t>- 价格为负：按绝对值×考核电量执行考核（反向约束，防止投机性低持仓）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持仓量(考核部分) = 年度长协(本月) + 合同电量转让电量(本月)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电量上下限见 PM 网站「滚动撮合-时刻剩余可买入电量」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交易方向：买方/卖方均可，对手方为省内售电公司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多日用电合同电量转让交易 — 交易策略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05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2B4D"/>
                </a:solidFill>
                <a:latin typeface="Microsoft YaHei"/>
              </a:rPr>
              <a:t>核心决策逻辑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6424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B4D"/>
                </a:solidFill>
                <a:latin typeface="Microsoft YaHei"/>
              </a:rPr>
              <a:t>盈亏线 = 合同电量转让价格 − （现货价格_预测 + 考核价格）</a:t>
            </a:r>
          </a:p>
          <a:p>
            <a:pPr algn="l"/>
            <a:r>
              <a:rPr sz="1400" b="1" i="0">
                <a:solidFill>
                  <a:srgbClr val="0B2B4D"/>
                </a:solidFill>
                <a:latin typeface="Microsoft YaHei"/>
              </a:rPr>
              <a:t>盈亏线 &lt; 0 → 买入（主要方式）；盈亏线 &gt; 0 → 卖出（持仓不足50%前提下）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11064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2B4D"/>
                </a:solidFill>
                <a:latin typeface="Microsoft YaHei"/>
              </a:rPr>
              <a:t>• 集中竞价阶段：人工权衡出清概率与最大收益，一次性表格导入+部分手动调整；绝大部分电量在此阶段成交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2B4D"/>
                </a:solidFill>
                <a:latin typeface="Microsoft YaHei"/>
              </a:rPr>
              <a:t>• 滚动撮合阶段：实时盯盘报价，但因市场原因成交量极少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2B4D"/>
                </a:solidFill>
                <a:latin typeface="Microsoft YaHei"/>
              </a:rPr>
              <a:t>• 经验规则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95F66"/>
                </a:solidFill>
                <a:latin typeface="Microsoft YaHei"/>
              </a:rPr>
              <a:t>- 以买入补仓为主；晚高峰（17:00–22:00，受新能源影响）即便转让价高也不轻易卖出，因新能源限电易致价格跳变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95F66"/>
                </a:solidFill>
                <a:latin typeface="Microsoft YaHei"/>
              </a:rPr>
              <a:t>- 若部分时刻卖出，倾向在其他时刻“换仓”买入近似等量电量，保持总持仓目标不变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95F66"/>
                </a:solidFill>
                <a:latin typeface="Microsoft YaHei"/>
              </a:rPr>
              <a:t>- 12:00–16:00 风电大发时段，现货预测价可能为0；部分交易员仍以 30–50 元/MWh 价格“赌”限电导致的价格跳变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多日直接交易（下午） — 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06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政策依据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标的为当月内未来2–3天可直接交割的增量市场化电量（含发电侧新增上网、用户侧新增购电）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面向发电交易单元、售电公司、批发直购用户、虚拟电厂等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交易目标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衔接月度长协与日前现货，新增锁定未来数日基础电量、补齐缺口、降低偏差考核风险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B2B4D"/>
                </a:solidFill>
                <a:latin typeface="Microsoft YaHei"/>
              </a:rPr>
              <a:t>• 交易时序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- 16:00–16:20 集中竞价（自由报价，可改可撤）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- 16:20–16:30 静默固化、集中统一边际出清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- 16:30–17:30 滚动撮合阶段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95F66"/>
                </a:solidFill>
                <a:latin typeface="Microsoft YaHei"/>
              </a:rPr>
              <a:t>- 数据爬取：PM网站「集中竞价-滚动撮合-多日直接交易」栏目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0" y="1325880"/>
            <a:ext cx="5029200" cy="30175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2B4D"/>
                </a:solidFill>
                <a:latin typeface="Microsoft YaHei"/>
              </a:rPr>
              <a:t>特殊规则补充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9659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出售量上限 = 月度竞价 + 绿电交易 之和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95F66"/>
                </a:solidFill>
                <a:latin typeface="Microsoft YaHei"/>
              </a:rPr>
              <a:t>- 例：年长协40% + 月竞10% + 绿电0%，合同转让买入15%后总持仓达55%/65%，但多日直接交易卖出上限仍为10%（不受年度长协/合同转让影响）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4572000"/>
            <a:ext cx="5029200" cy="17830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2B4D"/>
                </a:solidFill>
                <a:latin typeface="Microsoft YaHei"/>
              </a:rPr>
              <a:t>市场特点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5166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活跃度较高，新增发电侧主体参与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是中长期套利的重要市场，更注重“价”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多日直接交易 — 交易策略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07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1064240" cy="7772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B2B4D"/>
                </a:solidFill>
                <a:latin typeface="Microsoft YaHei"/>
              </a:rPr>
              <a:t>盈亏线 = 现货价格_预测；现货价格_预测 &gt; 当前报价 → 买入，反之 → 卖出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0B2B4D"/>
                </a:solidFill>
                <a:latin typeface="Microsoft YaHei"/>
              </a:rPr>
              <a:t>• 集中竞价阶段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95F66"/>
                </a:solidFill>
                <a:latin typeface="Microsoft YaHei"/>
              </a:rPr>
              <a:t>- 结合已有持仓（含上午合同转让结果）规划当前市场可交易总量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95F66"/>
                </a:solidFill>
                <a:latin typeface="Microsoft YaHei"/>
              </a:rPr>
              <a:t>- 例：持仓50%+月竞10%，预知实时结算电量20%更便宜，则可交易空间 = 100%−50%−10%−20% = 20%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95F66"/>
                </a:solidFill>
                <a:latin typeface="Microsoft YaHei"/>
              </a:rPr>
              <a:t>- 粗判集中/滚动价格趋势，按个人偏好分配集中竞价电量（如拿出80%可交易量），竞价电价略低于预测价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0B2B4D"/>
                </a:solidFill>
                <a:latin typeface="Microsoft YaHei"/>
              </a:rPr>
              <a:t>• 滚动撮合阶段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95F66"/>
                </a:solidFill>
                <a:latin typeface="Microsoft YaHei"/>
              </a:rPr>
              <a:t>- 成交量小，部分交易员只盯关键点位或直接放弃该阶段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95F66"/>
                </a:solidFill>
                <a:latin typeface="Microsoft YaHei"/>
              </a:rPr>
              <a:t>- 基于已有出清量，挂出比预测价略低的报价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95F66"/>
                </a:solidFill>
                <a:latin typeface="Microsoft YaHei"/>
              </a:rPr>
              <a:t>- 其余经验与合同电量转让市场一致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月度策略 / 全局套利构想 / 补充内容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FDDEC"/>
                </a:solidFill>
                <a:latin typeface="Microsoft YaHei"/>
              </a:rPr>
              <a:t>08-09 Outlook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2B4D"/>
                </a:solidFill>
                <a:latin typeface="Microsoft YaHei"/>
              </a:rPr>
              <a:t>月度策略（现状）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2B4D"/>
                </a:solidFill>
                <a:latin typeface="Microsoft YaHei"/>
              </a:rPr>
              <a:t>• 无法准确预测本月发电侧实时市场加权均价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2B4D"/>
                </a:solidFill>
                <a:latin typeface="Microsoft YaHei"/>
              </a:rPr>
              <a:t>• 月初观望、月中启动并逐渐放量；放量比例人工决策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2B4D"/>
                </a:solidFill>
                <a:latin typeface="Microsoft YaHei"/>
              </a:rPr>
              <a:t>• 原则：保证月末考核电量基本为0，但不绝对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80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7A1E"/>
                </a:solidFill>
                <a:latin typeface="Microsoft YaHei"/>
              </a:rPr>
              <a:t>全局套利构想【待讨论】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三层架构：月度分布 → 多日分布 → 单点策略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95F66"/>
                </a:solidFill>
                <a:latin typeface="Microsoft YaHei"/>
              </a:rPr>
              <a:t>- 月初/月内滚动判断全月电价趋势，确定多日电能量分布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95F66"/>
                </a:solidFill>
                <a:latin typeface="Microsoft YaHei"/>
              </a:rPr>
              <a:t>- 单次交易判断2~5天趋势，确定各时段交易电量分布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95F66"/>
                </a:solidFill>
                <a:latin typeface="Microsoft YaHei"/>
              </a:rPr>
              <a:t>- 单时刻点按盈亏概率报量报价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需实时动态调整：月初与月末现货价差可达200–300元/MWh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B2B4D"/>
                </a:solidFill>
                <a:latin typeface="Microsoft YaHei"/>
              </a:rPr>
              <a:t>• 策略触发须明确告知交易员，由其决策是否执行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34440"/>
            <a:ext cx="5349240" cy="4434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2B4D"/>
                </a:solidFill>
                <a:latin typeface="Microsoft YaHei"/>
              </a:rPr>
              <a:t>补充内容 / 待完善方向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288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2B4D"/>
                </a:solidFill>
                <a:latin typeface="Microsoft YaHei"/>
              </a:rPr>
              <a:t>• 盯盘工具需求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95F66"/>
                </a:solidFill>
                <a:latin typeface="Microsoft YaHei"/>
              </a:rPr>
              <a:t>- 滚动撮合阶段对手方可能误报极低/高价，需工具辅助“抢单”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2B4D"/>
                </a:solidFill>
                <a:latin typeface="Microsoft YaHei"/>
              </a:rPr>
              <a:t>• 交易水平评价体系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595F66"/>
                </a:solidFill>
                <a:latin typeface="Microsoft YaHei"/>
              </a:rPr>
              <a:t>- 交易品种多、频率高，目前缺乏明确的交易水平评价指标，后续需补充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471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icrosoft YaHei"/>
              </a:rPr>
              <a:t>中长期交易基本说明与业务逻辑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547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