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3774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6B6B"/>
                </a:solidFill>
                <a:latin typeface="微软雅黑"/>
              </a:rPr>
              <a:t>中长期交易基本说明与业务逻辑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95F66"/>
                </a:solidFill>
                <a:latin typeface="微软雅黑"/>
              </a:rPr>
              <a:t>广西电力市场 · 中长期交易规则与策略汇报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3794760"/>
            <a:ext cx="1280160" cy="25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F66"/>
                </a:solidFill>
                <a:latin typeface="微软雅黑"/>
              </a:rPr>
              <a:t>V1.0.1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8080"/>
                </a:solidFill>
                <a:latin typeface="微软雅黑"/>
              </a:rPr>
              <a:t>汇报内容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一、关键名词与基本概念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48256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二、交易目标：补仓与套利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0662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三、交易品种总览与核心公式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01568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四、多日用电合同电量转让交易（上午）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78224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5993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五、多日直接交易（下午）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4880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36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六、月度策略与全局套利构想（待讨论）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31536"/>
            <a:ext cx="54864" cy="41148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132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七、补充内容与待完善方向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8080"/>
                </a:solidFill>
                <a:latin typeface="微软雅黑"/>
              </a:rPr>
              <a:t>关键名词解释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软雅黑"/>
              </a:rPr>
              <a:t>基本概念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8229600" cy="98755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800" cy="9875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交易日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90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F66"/>
                </a:solidFill>
                <a:latin typeface="微软雅黑"/>
              </a:rPr>
              <a:t>申报电量、电价的日期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0" cy="98755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0800" cy="9875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运行日（D日/交割日）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F66"/>
                </a:solidFill>
                <a:latin typeface="微软雅黑"/>
              </a:rPr>
              <a:t>实际运行的日期；如 3.1 日申报 3.4 日的中长期交易，3.1为交易日，3.4为运行日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8229600" cy="98755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0800" cy="9875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D-1 / D+1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776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F66"/>
                </a:solidFill>
                <a:latin typeface="微软雅黑"/>
              </a:rPr>
              <a:t>对应交割日的前一天/后一天，以此类推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8229600" cy="98755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50800" cy="987552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能量块交易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919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F66"/>
                </a:solidFill>
                <a:latin typeface="微软雅黑"/>
              </a:rPr>
              <a:t>本文交易均为1小时能量块交易；如"3.1日中长期交易"指当日0:00~23:00共24个时刻点的24次独立交易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8080"/>
                </a:solidFill>
                <a:latin typeface="微软雅黑"/>
              </a:rPr>
              <a:t>交易目标：补仓与套利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补仓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4023360" cy="4297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611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广西本年度中长期持仓偏低，目标补全50%（未来可能调整）的中长期持仓（以月为单位）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必须每日购买一定中长期电量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通常在早晨的多日合同转让市场中完成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25880"/>
            <a:ext cx="4023360" cy="50292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套利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74519"/>
            <a:ext cx="4023360" cy="42976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057400"/>
            <a:ext cx="3611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实时电价在特定时段存在波动（可高可低）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实时电价-中长期电价差值在不同时段可正可负，形成买卖需求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>
                <a:solidFill>
                  <a:srgbClr val="006B6B"/>
                </a:solidFill>
                <a:latin typeface="微软雅黑"/>
              </a:rPr>
              <a:t>• 不同售电公司对实时价格判断不同，部分公司博弈高/低价，形成交易与套利空间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8080"/>
                </a:solidFill>
                <a:latin typeface="微软雅黑"/>
              </a:rPr>
              <a:t>交易品种总览与核心公式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核心持仓公式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6B6B"/>
                </a:solidFill>
                <a:latin typeface="微软雅黑"/>
              </a:rPr>
              <a:t>• 月度中长期持仓量 = 年度长协(分解到月) + 月度竞价 + 月内多日直接交易 + 合同电量转让 + 绿色电力交易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6B6B"/>
                </a:solidFill>
                <a:latin typeface="微软雅黑"/>
              </a:rPr>
              <a:t>• 总电量(批发侧) = 月度中长期持仓量 + 日前偏差电量 + 实时偏差电量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6B6B"/>
                </a:solidFill>
                <a:latin typeface="微软雅黑"/>
              </a:rPr>
              <a:t>• 总电量(代理用户侧) = 代理所有零售用户月度实际用网电量之和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6B6B"/>
                </a:solidFill>
                <a:latin typeface="微软雅黑"/>
              </a:rPr>
              <a:t>• 正常情况下：批发侧口径 = 代理用户侧口径（特殊计量/非市场化情形除外，暂不考虑）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8412480" cy="19050"/>
          </a:xfrm>
          <a:prstGeom prst="rect">
            <a:avLst/>
          </a:prstGeom>
          <a:solidFill>
            <a:srgbClr val="BB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两大交易品种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4023360" cy="15544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4023360" cy="381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B6B"/>
                </a:solidFill>
                <a:latin typeface="微软雅黑"/>
              </a:rPr>
              <a:t>多日用电合同电量转让交易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95F66"/>
                </a:solidFill>
                <a:latin typeface="微软雅黑"/>
              </a:rPr>
              <a:t>申报时段：上午 09:00–11:30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840480"/>
            <a:ext cx="4023360" cy="155448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3840480"/>
            <a:ext cx="4023360" cy="381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6B6B"/>
                </a:solidFill>
                <a:latin typeface="微软雅黑"/>
              </a:rPr>
              <a:t>多日直接交易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5720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95F66"/>
                </a:solidFill>
                <a:latin typeface="微软雅黑"/>
              </a:rPr>
              <a:t>申报时段：下午 16:00–17:30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微软雅黑"/>
              </a:rPr>
              <a:t>多日用电合同电量转让交易（上午）— 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政策依据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《广西电力中长期交易规则》《2026年广西电力市场化交易工作有关事项的通知》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标的物为当月内未履约的年度直接交易合同电量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交易目标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- 2–3天短周期，匹配短期负荷波动、降低偏差风险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滚动衔接，确保全月有可交易标的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交易时序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- 09:00–09:20 集中竞价（自由报价，可改可撤）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- 09:20–09:30 静默固化、集中统一边际出清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- 09:30 公布出清结果；09:30–11:30 滚动撮合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960120"/>
            <a:ext cx="3840480" cy="53492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特殊规则约束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46304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触发：月度签约持仓量(考核部分) &lt; 实际用电量×50%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考核电量 = 实际用电量×50% − 持仓量(考核部分)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考核价格 = 336.56元/MWh×1.05 − 当月发电侧实时市场加权均价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价格为正：按该价×考核电量缴纳考核费用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价格为负：按绝对值×考核电量执行考核（反向约束）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持仓量(考核部分) = 年度长协(本月) + 合同电量转让电量(本月)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电量上下限：PM网站「滚动撮合-时刻剩余可买入电量」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交易方向：买方/卖方均可，对手方为省内售电公司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微软雅黑"/>
              </a:rPr>
              <a:t>多日用电合同电量转让交易 — 交易策略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0800" cy="77724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盈亏线 = 合同电量转让价格 − （现货价格_预测 + 考核价格）</a:t>
            </a:r>
          </a:p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盈亏线&lt;0 → 买入（主要方式）；盈亏线&gt;0 → 卖出（持仓不足50%前提下）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412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06B6B"/>
                </a:solidFill>
                <a:latin typeface="微软雅黑"/>
              </a:rPr>
              <a:t>• 集中竞价阶段：人工权衡出清概率与最大收益，一次性表格导入+部分手动调整；绝大部分电量在此阶段成交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06B6B"/>
                </a:solidFill>
                <a:latin typeface="微软雅黑"/>
              </a:rPr>
              <a:t>• 滚动撮合阶段：实时盯盘报价，但因市场原因成交量极少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06B6B"/>
                </a:solidFill>
                <a:latin typeface="微软雅黑"/>
              </a:rPr>
              <a:t>• 经验规则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以买入补仓为主；晚高峰（17:00–22:00，受新能源影响）即便转让价高也不轻易卖出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若部分时刻卖出，倾向在其他时刻"换仓"买入近似等量电量，保持总持仓目标不变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- 12:00–16:00 风电大发时段，现货预测价可能为0；部分交易员仍以30–50元/MWh"赌"价格跳变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080"/>
                </a:solidFill>
                <a:latin typeface="微软雅黑"/>
              </a:rPr>
              <a:t>多日直接交易（下午）— 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政策依据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标的为未来2–3天可直接交割的增量市场化电量（发电侧新增上网、用户侧新增购电）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面向发电交易单元、售电公司、批发直购用户、虚拟电厂等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交易目标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衔接月度长协与日前现货，新增锁定基础电量、补齐缺口、降低偏差考核风险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交易时序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- 16:00–16:20 集中竞价；16:20–16:30 静默固化、统一出清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- 16:30–17:30 滚动撮合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数据爬取：PM网站「集中竞价-滚动撮合-多日直接交易」栏目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005840"/>
            <a:ext cx="3840480" cy="265176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特殊规则补充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508760"/>
            <a:ext cx="3520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出售量上限 = 月度竞价 + 绿电交易之和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例：年长协40%+月竞10%+绿电0%，合同转让买入15%后持仓达55%/65%，但多日直接交易卖出上限仍为10%（不受年度长协/合同转让影响）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840480"/>
            <a:ext cx="3840480" cy="1691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343400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活跃度较高，新增发电侧主体参与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是中长期套利的重要市场，更注重"价"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080"/>
                </a:solidFill>
                <a:latin typeface="微软雅黑"/>
              </a:rPr>
              <a:t>多日直接交易 — 交易策略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800" cy="54864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盈亏线 = 现货价格_预测；现货价格_预测 &gt; 当前报价 → 买入，反之 → 卖出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06B6B"/>
                </a:solidFill>
                <a:latin typeface="微软雅黑"/>
              </a:rPr>
              <a:t>• 集中竞价阶段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结合已有持仓（含上午合同转让结果）规划当前市场可交易总量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例：持仓50%+月竞10%，预知实时结算电量20%更便宜，则可交易空间=100%−50%−10%−20%=20%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粗判集中/滚动价格趋势，按个人偏好分配集中竞价电量，竞价电价略低于预测价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06B6B"/>
                </a:solidFill>
                <a:latin typeface="微软雅黑"/>
              </a:rPr>
              <a:t>• 滚动撮合阶段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成交量小，部分交易员只盯关键点位或直接放弃该阶段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150" b="0">
                <a:solidFill>
                  <a:srgbClr val="595F66"/>
                </a:solidFill>
                <a:latin typeface="微软雅黑"/>
              </a:rPr>
              <a:t>- 基于已有出清量，挂出比预测价略低的报价；其余经验与合同电量转让市场一致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32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微软雅黑"/>
              </a:rPr>
              <a:t>月度策略 / 全局套利构想 / 补充内容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月度策略（现状）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006B6B"/>
                </a:solidFill>
                <a:latin typeface="微软雅黑"/>
              </a:rPr>
              <a:t>• 无法准确预测本月发电侧实时市场加权均价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006B6B"/>
                </a:solidFill>
                <a:latin typeface="微软雅黑"/>
              </a:rPr>
              <a:t>• 月初观望、月中启动并逐渐放量；放量比例人工决策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006B6B"/>
                </a:solidFill>
                <a:latin typeface="微软雅黑"/>
              </a:rPr>
              <a:t>• 原则：保证月末考核电量基本为0，但不绝对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B6B"/>
                </a:solidFill>
                <a:latin typeface="微软雅黑"/>
              </a:rPr>
              <a:t>全局套利构想【待讨论】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三层架构：月度分布→多日分布→单点策略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月初/月内滚动判断全月电价趋势，确定多日电能量分布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单次交易判断2~5天趋势，确定各时段交易电量分布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930" b="0">
                <a:solidFill>
                  <a:srgbClr val="595F66"/>
                </a:solidFill>
                <a:latin typeface="微软雅黑"/>
              </a:rPr>
              <a:t>- 单时刻点按盈亏概率报量报价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需实时动态调整：月初与月末现货价差可达200–300元/MWh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80" b="1">
                <a:solidFill>
                  <a:srgbClr val="006B6B"/>
                </a:solidFill>
                <a:latin typeface="微软雅黑"/>
              </a:rPr>
              <a:t>• 策略触发须明确告知交易员，由其决策是否执行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914400"/>
            <a:ext cx="3931920" cy="534924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B6B"/>
                </a:solidFill>
                <a:latin typeface="微软雅黑"/>
              </a:rPr>
              <a:t>补充内容 / 待完善方向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46304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盯盘工具需求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滚动撮合阶段对手方可能误报极低/高价，需工具辅助"抢单"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6B6B"/>
                </a:solidFill>
                <a:latin typeface="微软雅黑"/>
              </a:rPr>
              <a:t>• 交易水平评价体系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595F66"/>
                </a:solidFill>
                <a:latin typeface="微软雅黑"/>
              </a:rPr>
              <a:t>- 交易品种多、频率高，目前缺乏明确的交易水平评价指标，后续需补充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F66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